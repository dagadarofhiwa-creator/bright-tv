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cuments\GitHub\Bright-TV\3.Data%20%20Processing\Excel%20Analysis%20File%20-%20Pivots%20&amp;%20Graph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baseline="0"/>
              <a:t> 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Viewership By province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Dashboard!$B$3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Dashboard!$A$4:$A$14</c:f>
              <c:strCache>
                <c:ptCount val="10"/>
                <c:pt idx="0">
                  <c:v>Northern Cape</c:v>
                </c:pt>
                <c:pt idx="1">
                  <c:v>unknown</c:v>
                </c:pt>
                <c:pt idx="2">
                  <c:v>Free State</c:v>
                </c:pt>
                <c:pt idx="3">
                  <c:v>North West</c:v>
                </c:pt>
                <c:pt idx="4">
                  <c:v>Eastern Cape</c:v>
                </c:pt>
                <c:pt idx="5">
                  <c:v>Limpopo</c:v>
                </c:pt>
                <c:pt idx="6">
                  <c:v>Mpumalanga</c:v>
                </c:pt>
                <c:pt idx="7">
                  <c:v>Kwazulu Natal</c:v>
                </c:pt>
                <c:pt idx="8">
                  <c:v>Western Cape</c:v>
                </c:pt>
                <c:pt idx="9">
                  <c:v>Gauteng</c:v>
                </c:pt>
              </c:strCache>
            </c:strRef>
          </c:cat>
          <c:val>
            <c:numRef>
              <c:f>Dashboard!$B$4:$B$14</c:f>
              <c:numCache>
                <c:formatCode>General</c:formatCode>
                <c:ptCount val="10"/>
                <c:pt idx="0">
                  <c:v>230</c:v>
                </c:pt>
                <c:pt idx="1">
                  <c:v>263</c:v>
                </c:pt>
                <c:pt idx="2">
                  <c:v>292</c:v>
                </c:pt>
                <c:pt idx="3">
                  <c:v>344</c:v>
                </c:pt>
                <c:pt idx="4">
                  <c:v>688</c:v>
                </c:pt>
                <c:pt idx="5">
                  <c:v>763</c:v>
                </c:pt>
                <c:pt idx="6">
                  <c:v>917</c:v>
                </c:pt>
                <c:pt idx="7">
                  <c:v>1001</c:v>
                </c:pt>
                <c:pt idx="8">
                  <c:v>1845</c:v>
                </c:pt>
                <c:pt idx="9">
                  <c:v>3652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46-40A9-B719-E548A3C047F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126809712"/>
        <c:axId val="1126814032"/>
      </c:barChart>
      <c:catAx>
        <c:axId val="1126809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6814032"/>
        <c:crosses val="autoZero"/>
        <c:auto val="1"/>
        <c:lblAlgn val="ctr"/>
        <c:lblOffset val="100"/>
        <c:noMultiLvlLbl val="0"/>
      </c:catAx>
      <c:valAx>
        <c:axId val="1126814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6809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Graphs.xlsx]Dashboard!PivotTable2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Gender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Dashboard!$B$26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17A-4BAB-B250-0D54657CA11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17A-4BAB-B250-0D54657CA11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17A-4BAB-B250-0D54657CA1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Dashboard!$A$27:$A$30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unknown</c:v>
                </c:pt>
              </c:strCache>
            </c:strRef>
          </c:cat>
          <c:val>
            <c:numRef>
              <c:f>Dashboard!$B$27:$B$30</c:f>
              <c:numCache>
                <c:formatCode>General</c:formatCode>
                <c:ptCount val="3"/>
                <c:pt idx="0">
                  <c:v>976</c:v>
                </c:pt>
                <c:pt idx="1">
                  <c:v>8757</c:v>
                </c:pt>
                <c:pt idx="2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7A-4BAB-B250-0D54657CA11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12051618547685"/>
          <c:y val="0.17108705161854773"/>
          <c:w val="0.19621281714785654"/>
          <c:h val="0.512154418197725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Graphs.xlsx]Dashboard!PivotTable3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Race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7E0-4002-A04F-16C3D31A76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7E0-4002-A04F-16C3D31A76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7E0-4002-A04F-16C3D31A763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7E0-4002-A04F-16C3D31A763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7E0-4002-A04F-16C3D31A763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27E0-4002-A04F-16C3D31A763E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Dashboard!$A$43:$A$49</c:f>
              <c:strCache>
                <c:ptCount val="6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other</c:v>
                </c:pt>
                <c:pt idx="4">
                  <c:v>unknown</c:v>
                </c:pt>
                <c:pt idx="5">
                  <c:v>white</c:v>
                </c:pt>
              </c:strCache>
            </c:strRef>
          </c:cat>
          <c:val>
            <c:numRef>
              <c:f>Dashboard!$B$43:$B$49</c:f>
              <c:numCache>
                <c:formatCode>General</c:formatCode>
                <c:ptCount val="6"/>
                <c:pt idx="0">
                  <c:v>4329</c:v>
                </c:pt>
                <c:pt idx="1">
                  <c:v>1631</c:v>
                </c:pt>
                <c:pt idx="2">
                  <c:v>1575</c:v>
                </c:pt>
                <c:pt idx="3">
                  <c:v>102</c:v>
                </c:pt>
                <c:pt idx="4">
                  <c:v>1067</c:v>
                </c:pt>
                <c:pt idx="5">
                  <c:v>1291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7E0-4002-A04F-16C3D31A763E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855030621172357"/>
          <c:y val="0.10583151064450279"/>
          <c:w val="0.24478302712160979"/>
          <c:h val="0.70023476232137638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Graphs.xlsx]Dashboard!PivotTable4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Time slots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Dashboard!$B$60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Dashboard!$A$61:$A$65</c:f>
              <c:strCache>
                <c:ptCount val="4"/>
                <c:pt idx="0">
                  <c:v>Morning_06:00-11:59</c:v>
                </c:pt>
                <c:pt idx="1">
                  <c:v>Afternoon_12:00-16:59</c:v>
                </c:pt>
                <c:pt idx="2">
                  <c:v>Evening_17:00-21:59</c:v>
                </c:pt>
                <c:pt idx="3">
                  <c:v>Night_22:00-05:59</c:v>
                </c:pt>
              </c:strCache>
            </c:strRef>
          </c:cat>
          <c:val>
            <c:numRef>
              <c:f>Dashboard!$B$61:$B$65</c:f>
              <c:numCache>
                <c:formatCode>0.00%</c:formatCode>
                <c:ptCount val="4"/>
                <c:pt idx="0">
                  <c:v>0.30855427713856931</c:v>
                </c:pt>
                <c:pt idx="1">
                  <c:v>0.31605802901450725</c:v>
                </c:pt>
                <c:pt idx="2">
                  <c:v>0.27153576788394196</c:v>
                </c:pt>
                <c:pt idx="3">
                  <c:v>0.10385192596298148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FD-4B68-9812-A576E4FF17E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3508655"/>
        <c:axId val="1773509135"/>
      </c:barChart>
      <c:catAx>
        <c:axId val="177350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509135"/>
        <c:crosses val="autoZero"/>
        <c:auto val="1"/>
        <c:lblAlgn val="ctr"/>
        <c:lblOffset val="100"/>
        <c:noMultiLvlLbl val="0"/>
      </c:catAx>
      <c:valAx>
        <c:axId val="1773509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508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Graphs.xlsx]Dashboard!PivotTable5</c:name>
    <c:fmtId val="6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Most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viewed  Channels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Dashboard!$B$78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Dashboard!$A$79:$A$98</c:f>
              <c:strCache>
                <c:ptCount val="19"/>
                <c:pt idx="0">
                  <c:v>Live on SuperSport</c:v>
                </c:pt>
                <c:pt idx="1">
                  <c:v>Wimbledon</c:v>
                </c:pt>
                <c:pt idx="2">
                  <c:v>MK</c:v>
                </c:pt>
                <c:pt idx="3">
                  <c:v>kykNET</c:v>
                </c:pt>
                <c:pt idx="4">
                  <c:v>Break in transmission</c:v>
                </c:pt>
                <c:pt idx="5">
                  <c:v>DStv Events 1</c:v>
                </c:pt>
                <c:pt idx="6">
                  <c:v>Vuzu</c:v>
                </c:pt>
                <c:pt idx="7">
                  <c:v>M-Net</c:v>
                </c:pt>
                <c:pt idx="8">
                  <c:v>SawSee</c:v>
                </c:pt>
                <c:pt idx="9">
                  <c:v>E! Entertainment</c:v>
                </c:pt>
                <c:pt idx="10">
                  <c:v>CNN</c:v>
                </c:pt>
                <c:pt idx="11">
                  <c:v>Boomerang</c:v>
                </c:pt>
                <c:pt idx="12">
                  <c:v>Cartoon Network</c:v>
                </c:pt>
                <c:pt idx="13">
                  <c:v>Africa Magic</c:v>
                </c:pt>
                <c:pt idx="14">
                  <c:v>SuperSport Blitz</c:v>
                </c:pt>
                <c:pt idx="15">
                  <c:v>Trace TV</c:v>
                </c:pt>
                <c:pt idx="16">
                  <c:v>Channel O</c:v>
                </c:pt>
                <c:pt idx="17">
                  <c:v>ICC Cricket World Cup 2011</c:v>
                </c:pt>
                <c:pt idx="18">
                  <c:v>Supersport Live Events</c:v>
                </c:pt>
              </c:strCache>
            </c:strRef>
          </c:cat>
          <c:val>
            <c:numRef>
              <c:f>Dashboard!$B$79:$B$98</c:f>
              <c:numCache>
                <c:formatCode>General</c:formatCode>
                <c:ptCount val="19"/>
                <c:pt idx="0">
                  <c:v>2</c:v>
                </c:pt>
                <c:pt idx="1">
                  <c:v>3</c:v>
                </c:pt>
                <c:pt idx="2">
                  <c:v>32</c:v>
                </c:pt>
                <c:pt idx="3">
                  <c:v>45</c:v>
                </c:pt>
                <c:pt idx="4">
                  <c:v>66</c:v>
                </c:pt>
                <c:pt idx="5">
                  <c:v>107</c:v>
                </c:pt>
                <c:pt idx="6">
                  <c:v>111</c:v>
                </c:pt>
                <c:pt idx="7">
                  <c:v>116</c:v>
                </c:pt>
                <c:pt idx="8">
                  <c:v>255</c:v>
                </c:pt>
                <c:pt idx="9">
                  <c:v>367</c:v>
                </c:pt>
                <c:pt idx="10">
                  <c:v>505</c:v>
                </c:pt>
                <c:pt idx="11">
                  <c:v>714</c:v>
                </c:pt>
                <c:pt idx="12">
                  <c:v>793</c:v>
                </c:pt>
                <c:pt idx="13">
                  <c:v>857</c:v>
                </c:pt>
                <c:pt idx="14">
                  <c:v>896</c:v>
                </c:pt>
                <c:pt idx="15">
                  <c:v>952</c:v>
                </c:pt>
                <c:pt idx="16">
                  <c:v>1048</c:v>
                </c:pt>
                <c:pt idx="17">
                  <c:v>1465</c:v>
                </c:pt>
                <c:pt idx="18">
                  <c:v>1661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8-4E61-8CDF-7D129FD3B32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47779375"/>
        <c:axId val="1647795215"/>
      </c:barChart>
      <c:catAx>
        <c:axId val="16477793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7795215"/>
        <c:crosses val="autoZero"/>
        <c:auto val="1"/>
        <c:lblAlgn val="ctr"/>
        <c:lblOffset val="100"/>
        <c:noMultiLvlLbl val="0"/>
      </c:catAx>
      <c:valAx>
        <c:axId val="164779521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7779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Graphs.xlsx]Dashboard!PivotTable6</c:name>
    <c:fmtId val="7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age group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</c:pivotFmt>
    </c:pivotFmts>
    <c:plotArea>
      <c:layout>
        <c:manualLayout>
          <c:layoutTarget val="inner"/>
          <c:xMode val="edge"/>
          <c:yMode val="edge"/>
          <c:x val="8.9477103033353725E-2"/>
          <c:y val="0.12638060393965905"/>
          <c:w val="0.50018256850313803"/>
          <c:h val="0.82984835228929721"/>
        </c:manualLayout>
      </c:layout>
      <c:doughnutChart>
        <c:varyColors val="1"/>
        <c:ser>
          <c:idx val="0"/>
          <c:order val="0"/>
          <c:tx>
            <c:strRef>
              <c:f>Dashboard!$B$105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F7E-4925-B5B6-7D588964C30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F7E-4925-B5B6-7D588964C30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F7E-4925-B5B6-7D588964C30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F7E-4925-B5B6-7D588964C30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F7E-4925-B5B6-7D588964C3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Dashboard!$A$106:$A$111</c:f>
              <c:strCache>
                <c:ptCount val="5"/>
                <c:pt idx="0">
                  <c:v>Young_Adults_20-39</c:v>
                </c:pt>
                <c:pt idx="1">
                  <c:v>Middle_Aged_Adults_40-59</c:v>
                </c:pt>
                <c:pt idx="2">
                  <c:v>Teen_13-19</c:v>
                </c:pt>
                <c:pt idx="3">
                  <c:v>Children_0-12</c:v>
                </c:pt>
                <c:pt idx="4">
                  <c:v>Seniors_60+</c:v>
                </c:pt>
              </c:strCache>
            </c:strRef>
          </c:cat>
          <c:val>
            <c:numRef>
              <c:f>Dashboard!$B$106:$B$111</c:f>
              <c:numCache>
                <c:formatCode>General</c:formatCode>
                <c:ptCount val="5"/>
                <c:pt idx="0">
                  <c:v>6882</c:v>
                </c:pt>
                <c:pt idx="1">
                  <c:v>2214</c:v>
                </c:pt>
                <c:pt idx="2">
                  <c:v>436</c:v>
                </c:pt>
                <c:pt idx="3">
                  <c:v>359</c:v>
                </c:pt>
                <c:pt idx="4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7E-4925-B5B6-7D588964C3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903587051618547"/>
          <c:y val="0.18092446777486146"/>
          <c:w val="0.36429746281714792"/>
          <c:h val="0.580442548848060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Graphs.xlsx]Dashboard!PivotTable7</c:name>
    <c:fmtId val="7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Month 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Dashboard!$B$127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Dashboard!$A$128:$A$131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Dashboard!$B$128:$B$131</c:f>
              <c:numCache>
                <c:formatCode>0.00%</c:formatCode>
                <c:ptCount val="3"/>
                <c:pt idx="0">
                  <c:v>0.22021010505252625</c:v>
                </c:pt>
                <c:pt idx="1">
                  <c:v>0.29744872436218112</c:v>
                </c:pt>
                <c:pt idx="2">
                  <c:v>0.48234117058529263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70-44A5-AE7D-B75408E0B5A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07681696"/>
        <c:axId val="2007682656"/>
      </c:barChart>
      <c:catAx>
        <c:axId val="200768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682656"/>
        <c:crosses val="autoZero"/>
        <c:auto val="1"/>
        <c:lblAlgn val="ctr"/>
        <c:lblOffset val="100"/>
        <c:noMultiLvlLbl val="0"/>
      </c:catAx>
      <c:valAx>
        <c:axId val="200768265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2007681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Analysis File - Pivots &amp; Graphs.xlsx]Dashboard!PivotTable8</c:name>
    <c:fmtId val="9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Viewership</a:t>
            </a:r>
            <a:r>
              <a:rPr lang="en-US" baseline="0">
                <a:solidFill>
                  <a:schemeClr val="tx2">
                    <a:lumMod val="50000"/>
                    <a:lumOff val="50000"/>
                  </a:schemeClr>
                </a:solidFill>
              </a:rPr>
              <a:t> By weekday</a:t>
            </a:r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Dashboard!$P$123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Dashboard!$O$124:$O$131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Dashboard!$P$124:$P$131</c:f>
              <c:numCache>
                <c:formatCode>0.00%</c:formatCode>
                <c:ptCount val="7"/>
                <c:pt idx="0">
                  <c:v>9.7348674337168581E-2</c:v>
                </c:pt>
                <c:pt idx="1">
                  <c:v>0.13216608304152075</c:v>
                </c:pt>
                <c:pt idx="2">
                  <c:v>0.15397698849424712</c:v>
                </c:pt>
                <c:pt idx="3">
                  <c:v>0.14707353676838419</c:v>
                </c:pt>
                <c:pt idx="4">
                  <c:v>0.16408204102051024</c:v>
                </c:pt>
                <c:pt idx="5">
                  <c:v>0.16558279139569784</c:v>
                </c:pt>
                <c:pt idx="6">
                  <c:v>0.13976988494247122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8-432C-AEA4-D581FD303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62107648"/>
        <c:axId val="1262106688"/>
      </c:barChart>
      <c:catAx>
        <c:axId val="126210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106688"/>
        <c:crosses val="autoZero"/>
        <c:auto val="1"/>
        <c:lblAlgn val="ctr"/>
        <c:lblOffset val="100"/>
        <c:noMultiLvlLbl val="0"/>
      </c:catAx>
      <c:valAx>
        <c:axId val="126210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107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5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0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6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7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9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6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6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9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9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2B49-AB59-4DA2-B971-D6E9515DD63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DEA5-CAD0-495E-87DF-7D94D953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8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867B04-3A86-E32D-8687-8A753F6C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22"/>
          <a:stretch>
            <a:fillRect/>
          </a:stretch>
        </p:blipFill>
        <p:spPr>
          <a:xfrm>
            <a:off x="-192004" y="-73142"/>
            <a:ext cx="1219198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7ED5E-747A-417A-1F12-79351109E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BRIGHT –TV VIEWERSHIP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590DF-8BFF-7224-FFA4-6BDFC724B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By Rofhiwa Dagada</a:t>
            </a:r>
          </a:p>
        </p:txBody>
      </p:sp>
    </p:spTree>
    <p:extLst>
      <p:ext uri="{BB962C8B-B14F-4D97-AF65-F5344CB8AC3E}">
        <p14:creationId xmlns:p14="http://schemas.microsoft.com/office/powerpoint/2010/main" val="789233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BC44D64-3776-73E7-5CB0-EA08E9637C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766537"/>
              </p:ext>
            </p:extLst>
          </p:nvPr>
        </p:nvGraphicFramePr>
        <p:xfrm>
          <a:off x="6000750" y="515080"/>
          <a:ext cx="5562600" cy="3529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71F127E-A858-D148-A7DA-FB7F2F3CE5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5961619"/>
              </p:ext>
            </p:extLst>
          </p:nvPr>
        </p:nvGraphicFramePr>
        <p:xfrm>
          <a:off x="472440" y="7318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D49AAD-3B6A-56CB-2ED6-18D5D569F2D8}"/>
              </a:ext>
            </a:extLst>
          </p:cNvPr>
          <p:cNvSpPr txBox="1"/>
          <p:nvPr/>
        </p:nvSpPr>
        <p:spPr>
          <a:xfrm>
            <a:off x="6291072" y="4251960"/>
            <a:ext cx="5683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 </a:t>
            </a:r>
            <a:r>
              <a:rPr lang="en-US" b="1" dirty="0"/>
              <a:t>:</a:t>
            </a:r>
            <a:r>
              <a:rPr lang="en-US" dirty="0"/>
              <a:t>Viewership  by Province  Gauteng has the most leading  Viewers followed by western cape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13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9CEC-CBCC-52EA-EFBE-D425CC20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496" y="4873117"/>
            <a:ext cx="5266944" cy="1325563"/>
          </a:xfrm>
        </p:spPr>
        <p:txBody>
          <a:bodyPr>
            <a:normAutofit/>
          </a:bodyPr>
          <a:lstStyle/>
          <a:p>
            <a:r>
              <a:rPr lang="en-US" sz="1600" b="1" dirty="0"/>
              <a:t>Key insights </a:t>
            </a:r>
            <a:r>
              <a:rPr lang="en-US" sz="1400" b="1" dirty="0"/>
              <a:t>:</a:t>
            </a:r>
            <a:r>
              <a:rPr lang="en-US" sz="1400" dirty="0"/>
              <a:t>Viewership  by race  Overall black race Customers strong upward by 43%</a:t>
            </a: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7903F33-E18B-A6F3-A94A-93B3DDD905D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54648055"/>
              </p:ext>
            </p:extLst>
          </p:nvPr>
        </p:nvGraphicFramePr>
        <p:xfrm>
          <a:off x="262128" y="3681857"/>
          <a:ext cx="4721352" cy="2901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EDF8A87-2633-BF89-C951-81315C06A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633511"/>
              </p:ext>
            </p:extLst>
          </p:nvPr>
        </p:nvGraphicFramePr>
        <p:xfrm>
          <a:off x="4275963" y="105347"/>
          <a:ext cx="7781925" cy="3195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C6EEECD-CEDB-8A33-DC8A-B33CD0768DA6}"/>
              </a:ext>
            </a:extLst>
          </p:cNvPr>
          <p:cNvSpPr txBox="1"/>
          <p:nvPr/>
        </p:nvSpPr>
        <p:spPr>
          <a:xfrm>
            <a:off x="344424" y="105347"/>
            <a:ext cx="3660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🕒Afternoon Dominance:</a:t>
            </a:r>
            <a:r>
              <a:rPr lang="en-US" dirty="0"/>
              <a:t> The afternoon period (12:00-16:59) is the strongest performing segment, generating 31.61% of Viewership followed By morning dominance By 30.86%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22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5124DE1-D1D1-AD44-47A8-1B9F34817F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017341"/>
              </p:ext>
            </p:extLst>
          </p:nvPr>
        </p:nvGraphicFramePr>
        <p:xfrm>
          <a:off x="161925" y="228600"/>
          <a:ext cx="6400799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476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F94CF2C-321A-437E-029C-DABDBFCE16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7351340"/>
              </p:ext>
            </p:extLst>
          </p:nvPr>
        </p:nvGraphicFramePr>
        <p:xfrm>
          <a:off x="0" y="-238125"/>
          <a:ext cx="5881687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E66129-8476-A6CD-D3A9-E44068A00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5396642"/>
              </p:ext>
            </p:extLst>
          </p:nvPr>
        </p:nvGraphicFramePr>
        <p:xfrm>
          <a:off x="7477125" y="1047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3A7F7CA-3940-F2DE-4D19-5E3D9232AE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0933689"/>
              </p:ext>
            </p:extLst>
          </p:nvPr>
        </p:nvGraphicFramePr>
        <p:xfrm>
          <a:off x="5986462" y="3181350"/>
          <a:ext cx="5991225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6236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7EC4BD-303B-E446-59FC-8F0F3891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3" r="1" b="7585"/>
          <a:stretch>
            <a:fillRect/>
          </a:stretch>
        </p:blipFill>
        <p:spPr>
          <a:xfrm>
            <a:off x="2269237" y="1247835"/>
            <a:ext cx="7653528" cy="3648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167C25-7EAD-079F-61B5-7BB823CFA3A8}"/>
              </a:ext>
            </a:extLst>
          </p:cNvPr>
          <p:cNvSpPr txBox="1"/>
          <p:nvPr/>
        </p:nvSpPr>
        <p:spPr>
          <a:xfrm>
            <a:off x="86185" y="-105431"/>
            <a:ext cx="7140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172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201</TotalTime>
  <Words>98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2013 - 2022 Theme</vt:lpstr>
      <vt:lpstr>BRIGHT –TV VIEWERSHIP REVIEW</vt:lpstr>
      <vt:lpstr>PowerPoint Presentation</vt:lpstr>
      <vt:lpstr>Key insights :Viewership  by race  Overall black race Customers strong upward by 43%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Rofhiwa Dagada</dc:creator>
  <cp:lastModifiedBy>Rofhiwa Dagada</cp:lastModifiedBy>
  <cp:revision>8</cp:revision>
  <dcterms:created xsi:type="dcterms:W3CDTF">2026-04-10T06:30:15Z</dcterms:created>
  <dcterms:modified xsi:type="dcterms:W3CDTF">2026-04-10T09:53:21Z</dcterms:modified>
</cp:coreProperties>
</file>